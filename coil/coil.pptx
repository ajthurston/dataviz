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4572000"/>
  <p:notesSz cx="6858000" cy="9144000"/>
  <p:defaultTextStyle>
    <a:defPPr>
      <a:defRPr lang="en-US"/>
    </a:defPPr>
    <a:lvl1pPr marL="0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28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56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84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12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640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768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896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024" algn="l" defTabSz="45712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  <a:srgbClr val="00000C"/>
    <a:srgbClr val="336666"/>
    <a:srgbClr val="CCCCCF"/>
    <a:srgbClr val="FFF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719"/>
  </p:normalViewPr>
  <p:slideViewPr>
    <p:cSldViewPr snapToGrid="0">
      <p:cViewPr>
        <p:scale>
          <a:sx n="160" d="100"/>
          <a:sy n="160" d="100"/>
        </p:scale>
        <p:origin x="368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748243"/>
            <a:ext cx="544068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401360"/>
            <a:ext cx="48006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4" indent="0" algn="ctr">
              <a:buNone/>
              <a:defRPr sz="1333"/>
            </a:lvl2pPr>
            <a:lvl3pPr marL="609628" indent="0" algn="ctr">
              <a:buNone/>
              <a:defRPr sz="1200"/>
            </a:lvl3pPr>
            <a:lvl4pPr marL="914444" indent="0" algn="ctr">
              <a:buNone/>
              <a:defRPr sz="1067"/>
            </a:lvl4pPr>
            <a:lvl5pPr marL="1219259" indent="0" algn="ctr">
              <a:buNone/>
              <a:defRPr sz="1067"/>
            </a:lvl5pPr>
            <a:lvl6pPr marL="1524073" indent="0" algn="ctr">
              <a:buNone/>
              <a:defRPr sz="1067"/>
            </a:lvl6pPr>
            <a:lvl7pPr marL="1828887" indent="0" algn="ctr">
              <a:buNone/>
              <a:defRPr sz="1067"/>
            </a:lvl7pPr>
            <a:lvl8pPr marL="2133702" indent="0" algn="ctr">
              <a:buNone/>
              <a:defRPr sz="1067"/>
            </a:lvl8pPr>
            <a:lvl9pPr marL="2438517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933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65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139827"/>
            <a:ext cx="552069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059644"/>
            <a:ext cx="552069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4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2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4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59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3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8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1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75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240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418"/>
            <a:ext cx="552069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120776"/>
            <a:ext cx="27078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4" indent="0">
              <a:buNone/>
              <a:defRPr sz="1333" b="1"/>
            </a:lvl2pPr>
            <a:lvl3pPr marL="609628" indent="0">
              <a:buNone/>
              <a:defRPr sz="1200" b="1"/>
            </a:lvl3pPr>
            <a:lvl4pPr marL="914444" indent="0">
              <a:buNone/>
              <a:defRPr sz="1067" b="1"/>
            </a:lvl4pPr>
            <a:lvl5pPr marL="1219259" indent="0">
              <a:buNone/>
              <a:defRPr sz="1067" b="1"/>
            </a:lvl5pPr>
            <a:lvl6pPr marL="1524073" indent="0">
              <a:buNone/>
              <a:defRPr sz="1067" b="1"/>
            </a:lvl6pPr>
            <a:lvl7pPr marL="1828887" indent="0">
              <a:buNone/>
              <a:defRPr sz="1067" b="1"/>
            </a:lvl7pPr>
            <a:lvl8pPr marL="2133702" indent="0">
              <a:buNone/>
              <a:defRPr sz="1067" b="1"/>
            </a:lvl8pPr>
            <a:lvl9pPr marL="2438517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670050"/>
            <a:ext cx="27078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120776"/>
            <a:ext cx="2721174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4" indent="0">
              <a:buNone/>
              <a:defRPr sz="1333" b="1"/>
            </a:lvl2pPr>
            <a:lvl3pPr marL="609628" indent="0">
              <a:buNone/>
              <a:defRPr sz="1200" b="1"/>
            </a:lvl3pPr>
            <a:lvl4pPr marL="914444" indent="0">
              <a:buNone/>
              <a:defRPr sz="1067" b="1"/>
            </a:lvl4pPr>
            <a:lvl5pPr marL="1219259" indent="0">
              <a:buNone/>
              <a:defRPr sz="1067" b="1"/>
            </a:lvl5pPr>
            <a:lvl6pPr marL="1524073" indent="0">
              <a:buNone/>
              <a:defRPr sz="1067" b="1"/>
            </a:lvl6pPr>
            <a:lvl7pPr marL="1828887" indent="0">
              <a:buNone/>
              <a:defRPr sz="1067" b="1"/>
            </a:lvl7pPr>
            <a:lvl8pPr marL="2133702" indent="0">
              <a:buNone/>
              <a:defRPr sz="1067" b="1"/>
            </a:lvl8pPr>
            <a:lvl9pPr marL="2438517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670050"/>
            <a:ext cx="272117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44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94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1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5" y="658285"/>
            <a:ext cx="324040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1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4" indent="0">
              <a:buNone/>
              <a:defRPr sz="933"/>
            </a:lvl2pPr>
            <a:lvl3pPr marL="609628" indent="0">
              <a:buNone/>
              <a:defRPr sz="800"/>
            </a:lvl3pPr>
            <a:lvl4pPr marL="914444" indent="0">
              <a:buNone/>
              <a:defRPr sz="667"/>
            </a:lvl4pPr>
            <a:lvl5pPr marL="1219259" indent="0">
              <a:buNone/>
              <a:defRPr sz="667"/>
            </a:lvl5pPr>
            <a:lvl6pPr marL="1524073" indent="0">
              <a:buNone/>
              <a:defRPr sz="667"/>
            </a:lvl6pPr>
            <a:lvl7pPr marL="1828887" indent="0">
              <a:buNone/>
              <a:defRPr sz="667"/>
            </a:lvl7pPr>
            <a:lvl8pPr marL="2133702" indent="0">
              <a:buNone/>
              <a:defRPr sz="667"/>
            </a:lvl8pPr>
            <a:lvl9pPr marL="2438517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85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1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5" y="658285"/>
            <a:ext cx="324040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4" indent="0">
              <a:buNone/>
              <a:defRPr sz="1867"/>
            </a:lvl2pPr>
            <a:lvl3pPr marL="609628" indent="0">
              <a:buNone/>
              <a:defRPr sz="1600"/>
            </a:lvl3pPr>
            <a:lvl4pPr marL="914444" indent="0">
              <a:buNone/>
              <a:defRPr sz="1333"/>
            </a:lvl4pPr>
            <a:lvl5pPr marL="1219259" indent="0">
              <a:buNone/>
              <a:defRPr sz="1333"/>
            </a:lvl5pPr>
            <a:lvl6pPr marL="1524073" indent="0">
              <a:buNone/>
              <a:defRPr sz="1333"/>
            </a:lvl6pPr>
            <a:lvl7pPr marL="1828887" indent="0">
              <a:buNone/>
              <a:defRPr sz="1333"/>
            </a:lvl7pPr>
            <a:lvl8pPr marL="2133702" indent="0">
              <a:buNone/>
              <a:defRPr sz="1333"/>
            </a:lvl8pPr>
            <a:lvl9pPr marL="2438517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1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4" indent="0">
              <a:buNone/>
              <a:defRPr sz="933"/>
            </a:lvl2pPr>
            <a:lvl3pPr marL="609628" indent="0">
              <a:buNone/>
              <a:defRPr sz="800"/>
            </a:lvl3pPr>
            <a:lvl4pPr marL="914444" indent="0">
              <a:buNone/>
              <a:defRPr sz="667"/>
            </a:lvl4pPr>
            <a:lvl5pPr marL="1219259" indent="0">
              <a:buNone/>
              <a:defRPr sz="667"/>
            </a:lvl5pPr>
            <a:lvl6pPr marL="1524073" indent="0">
              <a:buNone/>
              <a:defRPr sz="667"/>
            </a:lvl6pPr>
            <a:lvl7pPr marL="1828887" indent="0">
              <a:buNone/>
              <a:defRPr sz="667"/>
            </a:lvl7pPr>
            <a:lvl8pPr marL="2133702" indent="0">
              <a:buNone/>
              <a:defRPr sz="667"/>
            </a:lvl8pPr>
            <a:lvl9pPr marL="2438517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76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22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4" y="243417"/>
            <a:ext cx="138017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43417"/>
            <a:ext cx="406050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93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43418"/>
            <a:ext cx="552069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217083"/>
            <a:ext cx="552069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653228-466C-C74A-BD2A-D871C180EF84}" type="datetimeFigureOut">
              <a:rPr lang="en-US" smtClean="0"/>
              <a:t>10/8/25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4237568"/>
            <a:ext cx="216027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B1CD1-3D3D-A346-81F4-C5892C206A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28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7" indent="-152407" algn="l" defTabSz="60962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2" indent="-152407" algn="l" defTabSz="60962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6" indent="-152407" algn="l" defTabSz="60962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1" indent="-152407" algn="l" defTabSz="60962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6" indent="-152407" algn="l" defTabSz="60962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0" indent="-152407" algn="l" defTabSz="60962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4" indent="-152407" algn="l" defTabSz="60962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09" indent="-152407" algn="l" defTabSz="60962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25" indent="-152407" algn="l" defTabSz="609628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4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28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4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59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3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87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2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17" algn="l" defTabSz="609628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38C5D7D-B2DA-9A89-540B-7EC7E28B4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68" y="2128342"/>
            <a:ext cx="3108960" cy="2072640"/>
          </a:xfrm>
          <a:prstGeom prst="rect">
            <a:avLst/>
          </a:prstGeom>
        </p:spPr>
      </p:pic>
      <p:pic>
        <p:nvPicPr>
          <p:cNvPr id="24" name="Picture 23" descr="A screen shot of a black background&#10;&#10;Description automatically generated">
            <a:extLst>
              <a:ext uri="{FF2B5EF4-FFF2-40B4-BE49-F238E27FC236}">
                <a16:creationId xmlns:a16="http://schemas.microsoft.com/office/drawing/2014/main" id="{9DB68521-5554-7ADB-61B5-0C0B8DE28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760" y="2128342"/>
            <a:ext cx="3108960" cy="207264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92F3F4F-CC0B-DDA8-BEA9-4B2C69777163}"/>
              </a:ext>
            </a:extLst>
          </p:cNvPr>
          <p:cNvSpPr txBox="1"/>
          <p:nvPr/>
        </p:nvSpPr>
        <p:spPr>
          <a:xfrm>
            <a:off x="792161" y="4287693"/>
            <a:ext cx="170751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CCCC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Andrew J. Thurston © 2025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E69992E-4DE2-9A4B-807A-DAAFDECA6B60}"/>
              </a:ext>
            </a:extLst>
          </p:cNvPr>
          <p:cNvSpPr txBox="1"/>
          <p:nvPr/>
        </p:nvSpPr>
        <p:spPr>
          <a:xfrm>
            <a:off x="4327519" y="4287693"/>
            <a:ext cx="8547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CCCCCF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@AJThurston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8C6FD9-25C5-C8A8-6D7F-504342457AD3}"/>
              </a:ext>
            </a:extLst>
          </p:cNvPr>
          <p:cNvSpPr txBox="1"/>
          <p:nvPr/>
        </p:nvSpPr>
        <p:spPr>
          <a:xfrm>
            <a:off x="1371938" y="1631443"/>
            <a:ext cx="80021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33666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Myth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989A44-0FE9-0BC4-5496-9DA46E163754}"/>
              </a:ext>
            </a:extLst>
          </p:cNvPr>
          <p:cNvSpPr txBox="1"/>
          <p:nvPr/>
        </p:nvSpPr>
        <p:spPr>
          <a:xfrm>
            <a:off x="4123937" y="1631443"/>
            <a:ext cx="12618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336666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Reality</a:t>
            </a:r>
            <a:endParaRPr lang="en-US" sz="2800" b="1" dirty="0">
              <a:solidFill>
                <a:srgbClr val="336666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516D43-E10E-6FFB-E8F0-930020A5A878}"/>
              </a:ext>
            </a:extLst>
          </p:cNvPr>
          <p:cNvSpPr txBox="1"/>
          <p:nvPr/>
        </p:nvSpPr>
        <p:spPr>
          <a:xfrm>
            <a:off x="228600" y="109407"/>
            <a:ext cx="5943600" cy="1280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50" b="1" dirty="0">
                <a:solidFill>
                  <a:srgbClr val="444444"/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There’s a myth that says we’re 22x more more likely to remember a fact from a story than on its own.</a:t>
            </a:r>
            <a:r>
              <a:rPr lang="en-US" baseline="30000" dirty="0">
                <a:solidFill>
                  <a:schemeClr val="bg1">
                    <a:lumMod val="75000"/>
                  </a:schemeClr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1</a:t>
            </a:r>
            <a:r>
              <a:rPr lang="en-US" sz="1850" b="1" dirty="0">
                <a:solidFill>
                  <a:srgbClr val="444444"/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850" b="1" dirty="0">
                <a:solidFill>
                  <a:srgbClr val="444444"/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Robust meta-analytic evidence</a:t>
            </a:r>
            <a:r>
              <a:rPr lang="en-US" baseline="30000" dirty="0">
                <a:solidFill>
                  <a:schemeClr val="bg1">
                    <a:lumMod val="75000"/>
                  </a:schemeClr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2</a:t>
            </a:r>
            <a:r>
              <a:rPr lang="en-US" sz="1850" b="1" dirty="0">
                <a:solidFill>
                  <a:srgbClr val="444444"/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finds we’re about 21% more likely</a:t>
            </a:r>
            <a:r>
              <a:rPr lang="en-US" sz="2000" baseline="30000" dirty="0">
                <a:solidFill>
                  <a:schemeClr val="bg1">
                    <a:lumMod val="75000"/>
                  </a:schemeClr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3</a:t>
            </a:r>
            <a:r>
              <a:rPr lang="en-US" sz="1850" b="1" dirty="0">
                <a:solidFill>
                  <a:srgbClr val="444444"/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 to remember storytelling…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5859E3D-B75F-4BD5-05D3-F2E72B42B22A}"/>
              </a:ext>
            </a:extLst>
          </p:cNvPr>
          <p:cNvSpPr txBox="1"/>
          <p:nvPr/>
        </p:nvSpPr>
        <p:spPr>
          <a:xfrm>
            <a:off x="3411110" y="2629423"/>
            <a:ext cx="2910177" cy="1280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600"/>
              </a:spcAft>
            </a:pPr>
            <a:r>
              <a:rPr lang="en-US" sz="1850" b="1" dirty="0">
                <a:solidFill>
                  <a:srgbClr val="444444"/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… while a 21% lift may not make headlines it does get results.</a:t>
            </a:r>
          </a:p>
          <a:p>
            <a:endParaRPr lang="en-US" sz="800" dirty="0">
              <a:solidFill>
                <a:schemeClr val="bg1">
                  <a:lumMod val="75000"/>
                </a:schemeClr>
              </a:solidFill>
              <a:latin typeface="Arial Nova" panose="020B0504020202020204" pitchFamily="34" charset="0"/>
              <a:ea typeface="JetBrains Mono" panose="02000009000000000000" pitchFamily="49" charset="0"/>
              <a:cs typeface="Arial" panose="020B0604020202020204" pitchFamily="34" charset="0"/>
            </a:endParaRPr>
          </a:p>
          <a:p>
            <a:pPr marL="119063" indent="-119063">
              <a:buFont typeface="+mj-lt"/>
              <a:buAutoNum type="arabicPeriod"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archive.is/MizBp</a:t>
            </a:r>
          </a:p>
          <a:p>
            <a:pPr marL="119063" indent="-119063">
              <a:buFont typeface="+mj-lt"/>
              <a:buAutoNum type="arabicPeriod"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doi.org/10.3758/s13423-020-01853-1</a:t>
            </a:r>
          </a:p>
          <a:p>
            <a:pPr marL="119063" indent="-119063">
              <a:buFont typeface="+mj-lt"/>
              <a:buAutoNum type="arabicPeriod"/>
            </a:pPr>
            <a:r>
              <a:rPr lang="en-US" sz="800" dirty="0">
                <a:solidFill>
                  <a:schemeClr val="bg1">
                    <a:lumMod val="75000"/>
                  </a:schemeClr>
                </a:solidFill>
                <a:latin typeface="Arial Nova" panose="020B0504020202020204" pitchFamily="34" charset="0"/>
                <a:ea typeface="JetBrains Mono" panose="02000009000000000000" pitchFamily="49" charset="0"/>
                <a:cs typeface="Arial" panose="020B0604020202020204" pitchFamily="34" charset="0"/>
              </a:rPr>
              <a:t>Hedge’s g = .55 ≈ Cohen’s u3 = .71 assuming a .5 base rate representing an increase of .21., (ajthurston.com/u3)</a:t>
            </a:r>
          </a:p>
        </p:txBody>
      </p:sp>
    </p:spTree>
    <p:extLst>
      <p:ext uri="{BB962C8B-B14F-4D97-AF65-F5344CB8AC3E}">
        <p14:creationId xmlns:p14="http://schemas.microsoft.com/office/powerpoint/2010/main" val="34452722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536</TotalTime>
  <Words>105</Words>
  <Application>Microsoft Macintosh PowerPoint</Application>
  <PresentationFormat>Custom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Nova</vt:lpstr>
      <vt:lpstr>JetBrains Mono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 Thurston</dc:creator>
  <cp:lastModifiedBy>AJ Thurston</cp:lastModifiedBy>
  <cp:revision>2</cp:revision>
  <dcterms:created xsi:type="dcterms:W3CDTF">2025-10-08T11:49:18Z</dcterms:created>
  <dcterms:modified xsi:type="dcterms:W3CDTF">2025-10-08T20:45:56Z</dcterms:modified>
</cp:coreProperties>
</file>